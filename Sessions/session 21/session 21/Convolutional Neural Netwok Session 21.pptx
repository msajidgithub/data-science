
<file path=[Content_Types].xml><?xml version="1.0" encoding="utf-8"?>
<Types xmlns="http://schemas.openxmlformats.org/package/2006/content-types"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1"/>
  </p:notesMasterIdLst>
  <p:sldIdLst>
    <p:sldId id="285" r:id="rId2"/>
    <p:sldId id="261" r:id="rId3"/>
    <p:sldId id="262" r:id="rId4"/>
    <p:sldId id="263" r:id="rId5"/>
    <p:sldId id="264" r:id="rId6"/>
    <p:sldId id="265" r:id="rId7"/>
    <p:sldId id="266" r:id="rId8"/>
    <p:sldId id="267" r:id="rId9"/>
    <p:sldId id="268" r:id="rId10"/>
    <p:sldId id="269" r:id="rId11"/>
    <p:sldId id="270" r:id="rId12"/>
    <p:sldId id="271" r:id="rId13"/>
    <p:sldId id="272" r:id="rId14"/>
    <p:sldId id="273" r:id="rId15"/>
    <p:sldId id="274" r:id="rId16"/>
    <p:sldId id="275" r:id="rId17"/>
    <p:sldId id="276" r:id="rId18"/>
    <p:sldId id="277" r:id="rId19"/>
    <p:sldId id="278" r:id="rId20"/>
  </p:sldIdLst>
  <p:sldSz cx="18288000" cy="10287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0" roundtripDataSignature="AMtx7mhMnwDU57T14H1ak2Tc9BlrDTkPv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9" d="100"/>
          <a:sy n="39" d="100"/>
        </p:scale>
        <p:origin x="940" y="5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40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43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1">
          <a:extLst>
            <a:ext uri="{FF2B5EF4-FFF2-40B4-BE49-F238E27FC236}">
              <a16:creationId xmlns:a16="http://schemas.microsoft.com/office/drawing/2014/main" id="{08E7ED9D-AE07-4E7E-D25A-AA7C88FB6B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28:notes">
            <a:extLst>
              <a:ext uri="{FF2B5EF4-FFF2-40B4-BE49-F238E27FC236}">
                <a16:creationId xmlns:a16="http://schemas.microsoft.com/office/drawing/2014/main" id="{AE538647-FC97-9449-3648-C5ACA05143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3" name="Google Shape;413;p28:notes">
            <a:extLst>
              <a:ext uri="{FF2B5EF4-FFF2-40B4-BE49-F238E27FC236}">
                <a16:creationId xmlns:a16="http://schemas.microsoft.com/office/drawing/2014/main" id="{5F26B453-2CBD-F171-FCF3-A22E9E4660F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1511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895724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5" name="Google Shape;27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" name="Google Shape;283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0" name="Google Shape;290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Google Shape;297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4" name="Google Shape;314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1" name="Google Shape;321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0" name="Google Shape;330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7" name="Google Shape;337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53" name="Google Shape;353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3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3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4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4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3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6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36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3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3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3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3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37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3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3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3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38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38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38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38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3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3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3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3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3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3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0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40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40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4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4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4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1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41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41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4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4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4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42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4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4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4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3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43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4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4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4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3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3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3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3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g"/><Relationship Id="rId4" Type="http://schemas.openxmlformats.org/officeDocument/2006/relationships/hyperlink" Target="http://drive.google.com/file/d/1ADQ6UdAJmLimQMUhTv5L34Q4VPp9cGJb/view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gi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g"/><Relationship Id="rId4" Type="http://schemas.openxmlformats.org/officeDocument/2006/relationships/hyperlink" Target="http://drive.google.com/file/d/1_REF5prag7pplcMmeH443g0yR8K72Yzu/view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gi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gi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gi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gi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gi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gi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4">
          <a:extLst>
            <a:ext uri="{FF2B5EF4-FFF2-40B4-BE49-F238E27FC236}">
              <a16:creationId xmlns:a16="http://schemas.microsoft.com/office/drawing/2014/main" id="{41F6F2CC-539B-983E-4E14-F3C944DA13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28">
            <a:extLst>
              <a:ext uri="{FF2B5EF4-FFF2-40B4-BE49-F238E27FC236}">
                <a16:creationId xmlns:a16="http://schemas.microsoft.com/office/drawing/2014/main" id="{9647A87D-4EC0-8638-D376-5ED4F1C8088D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806" r="-806"/>
            </a:stretch>
          </a:blipFill>
          <a:ln>
            <a:noFill/>
          </a:ln>
        </p:spPr>
      </p:sp>
      <p:sp>
        <p:nvSpPr>
          <p:cNvPr id="416" name="Google Shape;416;p28">
            <a:extLst>
              <a:ext uri="{FF2B5EF4-FFF2-40B4-BE49-F238E27FC236}">
                <a16:creationId xmlns:a16="http://schemas.microsoft.com/office/drawing/2014/main" id="{9FEEF87D-810D-6B23-0A74-E0851E05B5B4}"/>
              </a:ext>
            </a:extLst>
          </p:cNvPr>
          <p:cNvSpPr txBox="1"/>
          <p:nvPr/>
        </p:nvSpPr>
        <p:spPr>
          <a:xfrm>
            <a:off x="1297907" y="847613"/>
            <a:ext cx="167394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Convolutional Neural Network (CNN) Architecture</a:t>
            </a:r>
            <a:endParaRPr/>
          </a:p>
        </p:txBody>
      </p:sp>
      <p:sp>
        <p:nvSpPr>
          <p:cNvPr id="417" name="Google Shape;417;p28">
            <a:extLst>
              <a:ext uri="{FF2B5EF4-FFF2-40B4-BE49-F238E27FC236}">
                <a16:creationId xmlns:a16="http://schemas.microsoft.com/office/drawing/2014/main" id="{B1D3EB91-B939-EE43-24FF-E872A9AB1B9D}"/>
              </a:ext>
            </a:extLst>
          </p:cNvPr>
          <p:cNvSpPr txBox="1"/>
          <p:nvPr/>
        </p:nvSpPr>
        <p:spPr>
          <a:xfrm>
            <a:off x="237688" y="2659503"/>
            <a:ext cx="8658969" cy="17334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798831" marR="0" lvl="1" indent="-399415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9015DB"/>
              </a:buClr>
              <a:buSzPts val="3700"/>
              <a:buFont typeface="Arial"/>
              <a:buChar char="•"/>
            </a:pPr>
            <a:r>
              <a:rPr lang="en-US" sz="3700" b="0" i="0" u="none" strike="noStrike" cap="none">
                <a:solidFill>
                  <a:srgbClr val="9015DB"/>
                </a:solidFill>
                <a:latin typeface="Arial"/>
                <a:ea typeface="Arial"/>
                <a:cs typeface="Arial"/>
                <a:sym typeface="Arial"/>
              </a:rPr>
              <a:t>CNNs</a:t>
            </a:r>
            <a:r>
              <a:rPr lang="en-US" sz="3700" b="0" i="0" u="none" strike="noStrike" cap="none">
                <a:solidFill>
                  <a:srgbClr val="FF313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are a type of </a:t>
            </a:r>
            <a:r>
              <a:rPr lang="en-US" sz="3700" b="0" i="0" u="none" strike="noStrike" cap="none">
                <a:solidFill>
                  <a:srgbClr val="9015DB"/>
                </a:solidFill>
                <a:latin typeface="Arial"/>
                <a:ea typeface="Arial"/>
                <a:cs typeface="Arial"/>
                <a:sym typeface="Arial"/>
              </a:rPr>
              <a:t>Neural Networks</a:t>
            </a:r>
            <a:endParaRPr/>
          </a:p>
          <a:p>
            <a:pPr marL="0" marR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inspired by how our brain processes</a:t>
            </a:r>
            <a:endParaRPr/>
          </a:p>
          <a:p>
            <a:pPr marL="0" marR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00" b="0" i="0" u="none" strike="noStrike" cap="none">
                <a:solidFill>
                  <a:srgbClr val="FF3131"/>
                </a:solidFill>
                <a:latin typeface="Arial"/>
                <a:ea typeface="Arial"/>
                <a:cs typeface="Arial"/>
                <a:sym typeface="Arial"/>
              </a:rPr>
              <a:t>       </a:t>
            </a:r>
            <a:r>
              <a:rPr lang="en-US" sz="3700" b="0" i="0" u="none" strike="noStrike" cap="none">
                <a:solidFill>
                  <a:srgbClr val="9015DB"/>
                </a:solidFill>
                <a:latin typeface="Arial"/>
                <a:ea typeface="Arial"/>
                <a:cs typeface="Arial"/>
                <a:sym typeface="Arial"/>
              </a:rPr>
              <a:t>visual information.</a:t>
            </a:r>
            <a:endParaRPr/>
          </a:p>
        </p:txBody>
      </p:sp>
      <p:sp>
        <p:nvSpPr>
          <p:cNvPr id="418" name="Google Shape;418;p28">
            <a:extLst>
              <a:ext uri="{FF2B5EF4-FFF2-40B4-BE49-F238E27FC236}">
                <a16:creationId xmlns:a16="http://schemas.microsoft.com/office/drawing/2014/main" id="{A829390A-678B-3BB7-987F-15B6B23ECBA2}"/>
              </a:ext>
            </a:extLst>
          </p:cNvPr>
          <p:cNvSpPr txBox="1"/>
          <p:nvPr/>
        </p:nvSpPr>
        <p:spPr>
          <a:xfrm>
            <a:off x="8896657" y="2659503"/>
            <a:ext cx="9140309" cy="17334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798829" marR="0" lvl="1" indent="-399415" algn="l" rtl="0">
              <a:lnSpc>
                <a:spcPct val="118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99"/>
              <a:buFont typeface="Arial"/>
              <a:buChar char="•"/>
            </a:pPr>
            <a:r>
              <a:rPr lang="en-US" sz="369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They're </a:t>
            </a:r>
            <a:r>
              <a:rPr lang="en-US" sz="3699" b="0" i="0" u="none" strike="noStrike" cap="none">
                <a:solidFill>
                  <a:srgbClr val="9015DB"/>
                </a:solidFill>
                <a:latin typeface="Arial"/>
                <a:ea typeface="Arial"/>
                <a:cs typeface="Arial"/>
                <a:sym typeface="Arial"/>
              </a:rPr>
              <a:t>specialized </a:t>
            </a:r>
            <a:r>
              <a:rPr lang="en-US" sz="369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 understanding </a:t>
            </a:r>
            <a:endParaRPr/>
          </a:p>
          <a:p>
            <a:pPr marL="0" marR="0" lvl="0" indent="0" algn="l" rtl="0">
              <a:lnSpc>
                <a:spcPct val="118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99" b="0" i="0" u="none" strike="noStrike" cap="none">
                <a:solidFill>
                  <a:srgbClr val="9015DB"/>
                </a:solidFill>
                <a:latin typeface="Arial"/>
                <a:ea typeface="Arial"/>
                <a:cs typeface="Arial"/>
                <a:sym typeface="Arial"/>
              </a:rPr>
              <a:t>       images,</a:t>
            </a:r>
            <a:r>
              <a:rPr lang="en-US" sz="369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making them powerful tools in </a:t>
            </a:r>
            <a:endParaRPr/>
          </a:p>
          <a:p>
            <a:pPr marL="0" marR="0" lvl="0" indent="0" algn="l" rtl="0">
              <a:lnSpc>
                <a:spcPct val="118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9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image analysis, recognition, and more.</a:t>
            </a:r>
            <a:endParaRPr/>
          </a:p>
        </p:txBody>
      </p:sp>
      <p:pic>
        <p:nvPicPr>
          <p:cNvPr id="419" name="Google Shape;419;p28" title="Thesis Defense.mp4">
            <a:hlinkClick r:id="rId4"/>
            <a:extLst>
              <a:ext uri="{FF2B5EF4-FFF2-40B4-BE49-F238E27FC236}">
                <a16:creationId xmlns:a16="http://schemas.microsoft.com/office/drawing/2014/main" id="{ABE662B5-FD87-014B-126F-855212E510A8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50688" y="4987625"/>
            <a:ext cx="14986625" cy="52993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42027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806" r="-806"/>
            </a:stretch>
          </a:blipFill>
          <a:ln>
            <a:noFill/>
          </a:ln>
        </p:spPr>
      </p:sp>
      <p:sp>
        <p:nvSpPr>
          <p:cNvPr id="213" name="Google Shape;213;p6"/>
          <p:cNvSpPr txBox="1"/>
          <p:nvPr/>
        </p:nvSpPr>
        <p:spPr>
          <a:xfrm>
            <a:off x="1281034" y="782426"/>
            <a:ext cx="14993100" cy="8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99" b="0" i="0" u="none" strike="noStrike" cap="none">
                <a:solidFill>
                  <a:srgbClr val="EBF5FE"/>
                </a:solidFill>
                <a:latin typeface="Arial"/>
                <a:ea typeface="Arial"/>
                <a:cs typeface="Arial"/>
                <a:sym typeface="Arial"/>
              </a:rPr>
              <a:t> Images in Computers</a:t>
            </a:r>
            <a:endParaRPr/>
          </a:p>
        </p:txBody>
      </p:sp>
      <p:sp>
        <p:nvSpPr>
          <p:cNvPr id="214" name="Google Shape;214;p6"/>
          <p:cNvSpPr txBox="1"/>
          <p:nvPr/>
        </p:nvSpPr>
        <p:spPr>
          <a:xfrm>
            <a:off x="727854" y="4117024"/>
            <a:ext cx="4974360" cy="273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Understanding image </a:t>
            </a:r>
            <a:r>
              <a:rPr lang="en-US" sz="5000" b="0" i="0" u="none" strike="noStrike" cap="none">
                <a:solidFill>
                  <a:srgbClr val="9015DB"/>
                </a:solidFill>
                <a:latin typeface="Arial"/>
                <a:ea typeface="Arial"/>
                <a:cs typeface="Arial"/>
                <a:sym typeface="Arial"/>
              </a:rPr>
              <a:t>channels</a:t>
            </a:r>
            <a:r>
              <a:rPr lang="en-US"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(RGB)</a:t>
            </a:r>
            <a:endParaRPr/>
          </a:p>
        </p:txBody>
      </p:sp>
      <p:pic>
        <p:nvPicPr>
          <p:cNvPr id="215" name="Google Shape;215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98025" y="2817975"/>
            <a:ext cx="12989975" cy="6494975"/>
          </a:xfrm>
          <a:prstGeom prst="rect">
            <a:avLst/>
          </a:prstGeom>
          <a:noFill/>
          <a:ln w="38100" cap="sq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</p:spTree>
    <p:extLst>
      <p:ext uri="{BB962C8B-B14F-4D97-AF65-F5344CB8AC3E}">
        <p14:creationId xmlns:p14="http://schemas.microsoft.com/office/powerpoint/2010/main" val="4540536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7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806" r="-806"/>
            </a:stretch>
          </a:blipFill>
          <a:ln>
            <a:noFill/>
          </a:ln>
        </p:spPr>
      </p:sp>
      <p:sp>
        <p:nvSpPr>
          <p:cNvPr id="221" name="Google Shape;221;p7"/>
          <p:cNvSpPr/>
          <p:nvPr/>
        </p:nvSpPr>
        <p:spPr>
          <a:xfrm>
            <a:off x="6539656" y="4018204"/>
            <a:ext cx="10719644" cy="5935482"/>
          </a:xfrm>
          <a:custGeom>
            <a:avLst/>
            <a:gdLst/>
            <a:ahLst/>
            <a:cxnLst/>
            <a:rect l="l" t="t" r="r" b="b"/>
            <a:pathLst>
              <a:path w="10719644" h="5935482" extrusionOk="0">
                <a:moveTo>
                  <a:pt x="0" y="0"/>
                </a:moveTo>
                <a:lnTo>
                  <a:pt x="10719644" y="0"/>
                </a:lnTo>
                <a:lnTo>
                  <a:pt x="10719644" y="5935482"/>
                </a:lnTo>
                <a:lnTo>
                  <a:pt x="0" y="59354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t="-225" b="-266"/>
            </a:stretch>
          </a:blipFill>
          <a:ln>
            <a:noFill/>
          </a:ln>
        </p:spPr>
      </p:sp>
      <p:sp>
        <p:nvSpPr>
          <p:cNvPr id="222" name="Google Shape;222;p7"/>
          <p:cNvSpPr txBox="1"/>
          <p:nvPr/>
        </p:nvSpPr>
        <p:spPr>
          <a:xfrm>
            <a:off x="1466256" y="736641"/>
            <a:ext cx="14993100" cy="8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99" b="0" i="0" u="none" strike="noStrike" cap="none">
                <a:solidFill>
                  <a:srgbClr val="EBF5FE"/>
                </a:solidFill>
                <a:latin typeface="Arial"/>
                <a:ea typeface="Arial"/>
                <a:cs typeface="Arial"/>
                <a:sym typeface="Arial"/>
              </a:rPr>
              <a:t>Features for Images</a:t>
            </a:r>
            <a:endParaRPr/>
          </a:p>
        </p:txBody>
      </p:sp>
      <p:sp>
        <p:nvSpPr>
          <p:cNvPr id="223" name="Google Shape;223;p7"/>
          <p:cNvSpPr txBox="1"/>
          <p:nvPr/>
        </p:nvSpPr>
        <p:spPr>
          <a:xfrm>
            <a:off x="591488" y="2389735"/>
            <a:ext cx="13046989" cy="1363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798829" marR="0" lvl="1" indent="-399415" algn="l" rtl="0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99"/>
              <a:buFont typeface="Arial"/>
              <a:buChar char="•"/>
            </a:pPr>
            <a:r>
              <a:rPr lang="en-US" sz="369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Images are full of important parts called </a:t>
            </a:r>
            <a:r>
              <a:rPr lang="en-US" sz="3699" b="0" i="0" u="none" strike="noStrike" cap="none">
                <a:solidFill>
                  <a:srgbClr val="9015DB"/>
                </a:solidFill>
                <a:latin typeface="Arial"/>
                <a:ea typeface="Arial"/>
                <a:cs typeface="Arial"/>
                <a:sym typeface="Arial"/>
              </a:rPr>
              <a:t>features</a:t>
            </a:r>
            <a:r>
              <a:rPr lang="en-US" sz="369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marL="798829" marR="0" lvl="1" indent="-399415" algn="l" rtl="0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99"/>
              <a:buFont typeface="Arial"/>
              <a:buChar char="•"/>
            </a:pPr>
            <a:r>
              <a:rPr lang="en-US" sz="369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Features can be </a:t>
            </a:r>
            <a:r>
              <a:rPr lang="en-US" sz="3699" b="0" i="0" u="none" strike="noStrike" cap="none">
                <a:solidFill>
                  <a:srgbClr val="9015DB"/>
                </a:solidFill>
                <a:latin typeface="Arial"/>
                <a:ea typeface="Arial"/>
                <a:cs typeface="Arial"/>
                <a:sym typeface="Arial"/>
              </a:rPr>
              <a:t>edges, textures, shapes, or even faces.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8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806" r="-806"/>
            </a:stretch>
          </a:blipFill>
          <a:ln>
            <a:noFill/>
          </a:ln>
        </p:spPr>
      </p:sp>
      <p:sp>
        <p:nvSpPr>
          <p:cNvPr id="229" name="Google Shape;229;p8"/>
          <p:cNvSpPr txBox="1"/>
          <p:nvPr/>
        </p:nvSpPr>
        <p:spPr>
          <a:xfrm>
            <a:off x="1486364" y="714045"/>
            <a:ext cx="10812300" cy="8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99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How CNN Work on Image</a:t>
            </a:r>
            <a:endParaRPr/>
          </a:p>
        </p:txBody>
      </p:sp>
      <p:pic>
        <p:nvPicPr>
          <p:cNvPr id="230" name="Google Shape;230;p8" title="WhatsApp Video 2024-06-04 at 5.04.04 PM.mp4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19613" y="2552700"/>
            <a:ext cx="13648764" cy="773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9"/>
          <p:cNvSpPr/>
          <p:nvPr/>
        </p:nvSpPr>
        <p:spPr>
          <a:xfrm>
            <a:off x="0" y="16329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806" r="-806"/>
            </a:stretch>
          </a:blipFill>
          <a:ln>
            <a:noFill/>
          </a:ln>
        </p:spPr>
      </p:sp>
      <p:pic>
        <p:nvPicPr>
          <p:cNvPr id="236" name="Google Shape;236;p9"/>
          <p:cNvPicPr preferRelativeResize="0"/>
          <p:nvPr/>
        </p:nvPicPr>
        <p:blipFill rotWithShape="1">
          <a:blip r:embed="rId4">
            <a:alphaModFix/>
          </a:blip>
          <a:srcRect l="15346" r="14554" b="9225"/>
          <a:stretch/>
        </p:blipFill>
        <p:spPr>
          <a:xfrm>
            <a:off x="7771298" y="2201782"/>
            <a:ext cx="10516702" cy="7660314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9"/>
          <p:cNvSpPr txBox="1"/>
          <p:nvPr/>
        </p:nvSpPr>
        <p:spPr>
          <a:xfrm>
            <a:off x="642585" y="3344254"/>
            <a:ext cx="7128713" cy="2879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Convolution is like a special way of looking at data. It's a mathematical operation that brings out </a:t>
            </a:r>
            <a:r>
              <a:rPr lang="en-US" sz="4003" b="0" i="0" u="none" strike="noStrike" cap="none">
                <a:solidFill>
                  <a:srgbClr val="9015DB"/>
                </a:solidFill>
                <a:latin typeface="Arial"/>
                <a:ea typeface="Arial"/>
                <a:cs typeface="Arial"/>
                <a:sym typeface="Arial"/>
              </a:rPr>
              <a:t>patterns</a:t>
            </a:r>
            <a:r>
              <a:rPr lang="en-US" sz="400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sp>
        <p:nvSpPr>
          <p:cNvPr id="238" name="Google Shape;238;p9"/>
          <p:cNvSpPr txBox="1"/>
          <p:nvPr/>
        </p:nvSpPr>
        <p:spPr>
          <a:xfrm>
            <a:off x="1383992" y="765979"/>
            <a:ext cx="4074300" cy="8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99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Convolution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0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806" r="-806"/>
            </a:stretch>
          </a:blipFill>
          <a:ln>
            <a:noFill/>
          </a:ln>
        </p:spPr>
      </p:sp>
      <p:sp>
        <p:nvSpPr>
          <p:cNvPr id="244" name="Google Shape;244;p10"/>
          <p:cNvSpPr txBox="1"/>
          <p:nvPr/>
        </p:nvSpPr>
        <p:spPr>
          <a:xfrm>
            <a:off x="587812" y="3321243"/>
            <a:ext cx="9864685" cy="1638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971544" marR="0" lvl="1" indent="-485772" algn="l" rtl="0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99"/>
              <a:buFont typeface="Arial"/>
              <a:buChar char="•"/>
            </a:pPr>
            <a:r>
              <a:rPr lang="en-US" sz="449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Applies filters to the input image to </a:t>
            </a:r>
            <a:endParaRPr/>
          </a:p>
          <a:p>
            <a:pPr marL="0" marR="0" lvl="0" indent="0" algn="l" rtl="0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9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create </a:t>
            </a:r>
            <a:r>
              <a:rPr lang="en-US" sz="4499" b="0" i="0" u="none" strike="noStrike" cap="none">
                <a:solidFill>
                  <a:srgbClr val="9015DB"/>
                </a:solidFill>
                <a:latin typeface="Arial"/>
                <a:ea typeface="Arial"/>
                <a:cs typeface="Arial"/>
                <a:sym typeface="Arial"/>
              </a:rPr>
              <a:t>feature maps</a:t>
            </a:r>
            <a:r>
              <a:rPr lang="en-US" sz="449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sp>
        <p:nvSpPr>
          <p:cNvPr id="245" name="Google Shape;245;p10"/>
          <p:cNvSpPr txBox="1"/>
          <p:nvPr/>
        </p:nvSpPr>
        <p:spPr>
          <a:xfrm>
            <a:off x="1430935" y="794791"/>
            <a:ext cx="4074000" cy="8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99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Convolution</a:t>
            </a:r>
            <a:endParaRPr/>
          </a:p>
        </p:txBody>
      </p:sp>
      <p:sp>
        <p:nvSpPr>
          <p:cNvPr id="246" name="Google Shape;246;p10"/>
          <p:cNvSpPr txBox="1"/>
          <p:nvPr/>
        </p:nvSpPr>
        <p:spPr>
          <a:xfrm>
            <a:off x="587812" y="5245293"/>
            <a:ext cx="11814929" cy="2428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971544" marR="0" lvl="1" indent="-485772" algn="l" rtl="0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99"/>
              <a:buFont typeface="Arial"/>
              <a:buChar char="•"/>
            </a:pPr>
            <a:r>
              <a:rPr lang="en-US" sz="449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Filters are small matrices that slide </a:t>
            </a:r>
            <a:endParaRPr/>
          </a:p>
          <a:p>
            <a:pPr marL="0" marR="0" lvl="0" indent="0" algn="l" rtl="0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9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over the input image and </a:t>
            </a:r>
            <a:r>
              <a:rPr lang="en-US" sz="4499" b="0" i="0" u="none" strike="noStrike" cap="none">
                <a:solidFill>
                  <a:srgbClr val="9015DB"/>
                </a:solidFill>
                <a:latin typeface="Arial"/>
                <a:ea typeface="Arial"/>
                <a:cs typeface="Arial"/>
                <a:sym typeface="Arial"/>
              </a:rPr>
              <a:t>detect patterns.</a:t>
            </a:r>
            <a:endParaRPr/>
          </a:p>
          <a:p>
            <a:pPr marL="0" marR="0" lvl="0" indent="0" algn="l" rtl="0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499" b="0" i="0" u="none" strike="noStrike" cap="none">
              <a:solidFill>
                <a:srgbClr val="9015D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7" name="Google Shape;247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163675" y="2374075"/>
            <a:ext cx="6124325" cy="5907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1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806" r="-806"/>
            </a:stretch>
          </a:blipFill>
          <a:ln>
            <a:noFill/>
          </a:ln>
        </p:spPr>
      </p:sp>
      <p:sp>
        <p:nvSpPr>
          <p:cNvPr id="253" name="Google Shape;253;p11"/>
          <p:cNvSpPr txBox="1"/>
          <p:nvPr/>
        </p:nvSpPr>
        <p:spPr>
          <a:xfrm>
            <a:off x="954405" y="745395"/>
            <a:ext cx="3088500" cy="8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99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Stride</a:t>
            </a:r>
            <a:endParaRPr/>
          </a:p>
        </p:txBody>
      </p:sp>
      <p:sp>
        <p:nvSpPr>
          <p:cNvPr id="254" name="Google Shape;254;p11"/>
          <p:cNvSpPr txBox="1"/>
          <p:nvPr/>
        </p:nvSpPr>
        <p:spPr>
          <a:xfrm>
            <a:off x="1061954" y="2657255"/>
            <a:ext cx="5961851" cy="4518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Stride in CNN determines the step size of the </a:t>
            </a:r>
            <a:r>
              <a:rPr lang="en-US" sz="3600" b="0" i="0" u="none" strike="noStrike" cap="none">
                <a:solidFill>
                  <a:srgbClr val="9015DB"/>
                </a:solidFill>
                <a:latin typeface="Arial"/>
                <a:ea typeface="Arial"/>
                <a:cs typeface="Arial"/>
                <a:sym typeface="Arial"/>
              </a:rPr>
              <a:t>filter</a:t>
            </a:r>
            <a:r>
              <a:rPr lang="en-US"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as it moves across the input data during the convolution operation,</a:t>
            </a:r>
            <a:r>
              <a:rPr lang="en-US" sz="3600" b="0" i="0" u="none" strike="noStrike" cap="none">
                <a:solidFill>
                  <a:srgbClr val="FF313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600" b="0" i="0" u="none" strike="noStrike" cap="none">
                <a:solidFill>
                  <a:srgbClr val="9015DB"/>
                </a:solidFill>
                <a:latin typeface="Arial"/>
                <a:ea typeface="Arial"/>
                <a:cs typeface="Arial"/>
                <a:sym typeface="Arial"/>
              </a:rPr>
              <a:t>affecting </a:t>
            </a:r>
            <a:r>
              <a:rPr lang="en-US"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output size and computational efficiency.</a:t>
            </a:r>
            <a:endParaRPr/>
          </a:p>
        </p:txBody>
      </p:sp>
      <p:pic>
        <p:nvPicPr>
          <p:cNvPr id="255" name="Google Shape;255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76250" y="2657250"/>
            <a:ext cx="10811750" cy="68898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2"/>
          <p:cNvSpPr/>
          <p:nvPr/>
        </p:nvSpPr>
        <p:spPr>
          <a:xfrm>
            <a:off x="28575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806" r="-806"/>
            </a:stretch>
          </a:blipFill>
          <a:ln>
            <a:noFill/>
          </a:ln>
        </p:spPr>
      </p:sp>
      <p:sp>
        <p:nvSpPr>
          <p:cNvPr id="261" name="Google Shape;261;p12"/>
          <p:cNvSpPr/>
          <p:nvPr/>
        </p:nvSpPr>
        <p:spPr>
          <a:xfrm>
            <a:off x="4596848" y="5143500"/>
            <a:ext cx="13000942" cy="4892194"/>
          </a:xfrm>
          <a:custGeom>
            <a:avLst/>
            <a:gdLst/>
            <a:ahLst/>
            <a:cxnLst/>
            <a:rect l="l" t="t" r="r" b="b"/>
            <a:pathLst>
              <a:path w="13000942" h="4892194" extrusionOk="0">
                <a:moveTo>
                  <a:pt x="0" y="0"/>
                </a:moveTo>
                <a:lnTo>
                  <a:pt x="13000941" y="0"/>
                </a:lnTo>
                <a:lnTo>
                  <a:pt x="13000941" y="4892194"/>
                </a:lnTo>
                <a:lnTo>
                  <a:pt x="0" y="48921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62" name="Google Shape;262;p12"/>
          <p:cNvSpPr txBox="1"/>
          <p:nvPr/>
        </p:nvSpPr>
        <p:spPr>
          <a:xfrm>
            <a:off x="527477" y="787967"/>
            <a:ext cx="5807100" cy="8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99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Kernel/Filter</a:t>
            </a:r>
            <a:endParaRPr/>
          </a:p>
        </p:txBody>
      </p:sp>
      <p:sp>
        <p:nvSpPr>
          <p:cNvPr id="263" name="Google Shape;263;p12"/>
          <p:cNvSpPr txBox="1"/>
          <p:nvPr/>
        </p:nvSpPr>
        <p:spPr>
          <a:xfrm>
            <a:off x="1028700" y="1972119"/>
            <a:ext cx="11114626" cy="272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9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Kernels in CNNs are usually small </a:t>
            </a:r>
            <a:r>
              <a:rPr lang="en-US" sz="3799" b="0" i="0" u="none" strike="noStrike" cap="none">
                <a:solidFill>
                  <a:srgbClr val="9015DB"/>
                </a:solidFill>
                <a:latin typeface="Arial"/>
                <a:ea typeface="Arial"/>
                <a:cs typeface="Arial"/>
                <a:sym typeface="Arial"/>
              </a:rPr>
              <a:t>2D matrices</a:t>
            </a:r>
            <a:r>
              <a:rPr lang="en-US" sz="379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used for </a:t>
            </a:r>
            <a:r>
              <a:rPr lang="en-US" sz="3799" b="0" i="0" u="none" strike="noStrike" cap="none">
                <a:solidFill>
                  <a:srgbClr val="9015DB"/>
                </a:solidFill>
                <a:latin typeface="Arial"/>
                <a:ea typeface="Arial"/>
                <a:cs typeface="Arial"/>
                <a:sym typeface="Arial"/>
              </a:rPr>
              <a:t>feature extraction</a:t>
            </a:r>
            <a:r>
              <a:rPr lang="en-US" sz="379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through convolution operations on input data, typically with dimensions in odd numbers.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3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806" r="-806"/>
            </a:stretch>
          </a:blipFill>
          <a:ln>
            <a:noFill/>
          </a:ln>
        </p:spPr>
      </p:sp>
      <p:sp>
        <p:nvSpPr>
          <p:cNvPr id="269" name="Google Shape;269;p13"/>
          <p:cNvSpPr txBox="1"/>
          <p:nvPr/>
        </p:nvSpPr>
        <p:spPr>
          <a:xfrm>
            <a:off x="1127767" y="662933"/>
            <a:ext cx="7821600" cy="8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99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Convolution Operation</a:t>
            </a:r>
            <a:endParaRPr/>
          </a:p>
        </p:txBody>
      </p:sp>
      <p:sp>
        <p:nvSpPr>
          <p:cNvPr id="270" name="Google Shape;270;p13"/>
          <p:cNvSpPr txBox="1"/>
          <p:nvPr/>
        </p:nvSpPr>
        <p:spPr>
          <a:xfrm>
            <a:off x="863219" y="2241380"/>
            <a:ext cx="9734347" cy="2796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842008" marR="0" lvl="1" indent="-421004" algn="l" rtl="0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99"/>
              <a:buFont typeface="Arial"/>
              <a:buChar char="•"/>
            </a:pPr>
            <a:r>
              <a:rPr lang="en-US" sz="389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At each position, the </a:t>
            </a:r>
            <a:r>
              <a:rPr lang="en-US" sz="3899" b="0" i="0" u="none" strike="noStrike" cap="none">
                <a:solidFill>
                  <a:srgbClr val="9015DB"/>
                </a:solidFill>
                <a:latin typeface="Arial"/>
                <a:ea typeface="Arial"/>
                <a:cs typeface="Arial"/>
                <a:sym typeface="Arial"/>
              </a:rPr>
              <a:t>kernel</a:t>
            </a:r>
            <a:r>
              <a:rPr lang="en-US" sz="389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performs </a:t>
            </a:r>
            <a:r>
              <a:rPr lang="en-US" sz="3899" b="0" i="0" u="none" strike="noStrike" cap="none">
                <a:solidFill>
                  <a:srgbClr val="9015DB"/>
                </a:solidFill>
                <a:latin typeface="Arial"/>
                <a:ea typeface="Arial"/>
                <a:cs typeface="Arial"/>
                <a:sym typeface="Arial"/>
              </a:rPr>
              <a:t>el﻿ement-wise multiplication</a:t>
            </a:r>
            <a:r>
              <a:rPr lang="en-US" sz="389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with the corresponding part of the</a:t>
            </a:r>
            <a:r>
              <a:rPr lang="en-US" sz="3899" b="0" i="0" u="none" strike="noStrike" cap="none">
                <a:solidFill>
                  <a:srgbClr val="9015DB"/>
                </a:solidFill>
                <a:latin typeface="Arial"/>
                <a:ea typeface="Arial"/>
                <a:cs typeface="Arial"/>
                <a:sym typeface="Arial"/>
              </a:rPr>
              <a:t> input data</a:t>
            </a:r>
            <a:r>
              <a:rPr lang="en-US" sz="389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it covers. </a:t>
            </a:r>
            <a:endParaRPr/>
          </a:p>
        </p:txBody>
      </p:sp>
      <p:sp>
        <p:nvSpPr>
          <p:cNvPr id="271" name="Google Shape;271;p13"/>
          <p:cNvSpPr txBox="1"/>
          <p:nvPr/>
        </p:nvSpPr>
        <p:spPr>
          <a:xfrm>
            <a:off x="1028700" y="5337832"/>
            <a:ext cx="9343235" cy="2110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842008" marR="0" lvl="1" indent="-421004" algn="l" rtl="0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99"/>
              <a:buFont typeface="Arial"/>
              <a:buChar char="•"/>
            </a:pPr>
            <a:r>
              <a:rPr lang="en-US" sz="389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Then, the results of these multiplications are </a:t>
            </a:r>
            <a:r>
              <a:rPr lang="en-US" sz="3899" b="0" i="0" u="none" strike="noStrike" cap="none">
                <a:solidFill>
                  <a:srgbClr val="9015DB"/>
                </a:solidFill>
                <a:latin typeface="Arial"/>
                <a:ea typeface="Arial"/>
                <a:cs typeface="Arial"/>
                <a:sym typeface="Arial"/>
              </a:rPr>
              <a:t>summed up</a:t>
            </a:r>
            <a:r>
              <a:rPr lang="en-US" sz="389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to produce a single output pixel.</a:t>
            </a:r>
            <a:endParaRPr/>
          </a:p>
        </p:txBody>
      </p:sp>
      <p:pic>
        <p:nvPicPr>
          <p:cNvPr id="272" name="Google Shape;272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371925" y="3428993"/>
            <a:ext cx="7821725" cy="57101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4"/>
          <p:cNvSpPr/>
          <p:nvPr/>
        </p:nvSpPr>
        <p:spPr>
          <a:xfrm>
            <a:off x="9525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806" r="-806"/>
            </a:stretch>
          </a:blipFill>
          <a:ln>
            <a:noFill/>
          </a:ln>
        </p:spPr>
      </p:sp>
      <p:sp>
        <p:nvSpPr>
          <p:cNvPr id="278" name="Google Shape;278;p14"/>
          <p:cNvSpPr txBox="1"/>
          <p:nvPr/>
        </p:nvSpPr>
        <p:spPr>
          <a:xfrm>
            <a:off x="1117423" y="739757"/>
            <a:ext cx="6820500" cy="8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99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How Kernels Work</a:t>
            </a:r>
            <a:endParaRPr/>
          </a:p>
        </p:txBody>
      </p:sp>
      <p:sp>
        <p:nvSpPr>
          <p:cNvPr id="279" name="Google Shape;279;p14"/>
          <p:cNvSpPr txBox="1"/>
          <p:nvPr/>
        </p:nvSpPr>
        <p:spPr>
          <a:xfrm>
            <a:off x="403464" y="4388612"/>
            <a:ext cx="7534454" cy="1911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755651" marR="0" lvl="1" indent="-377825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Char char="•"/>
            </a:pPr>
            <a:r>
              <a:rPr lang="en-US" sz="3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Convolution on an </a:t>
            </a:r>
            <a:r>
              <a:rPr lang="en-US" sz="3500" b="0" i="0" u="none" strike="noStrike" cap="none">
                <a:solidFill>
                  <a:srgbClr val="9015DB"/>
                </a:solidFill>
                <a:latin typeface="Arial"/>
                <a:ea typeface="Arial"/>
                <a:cs typeface="Arial"/>
                <a:sym typeface="Arial"/>
              </a:rPr>
              <a:t>(h, w, in_dims) </a:t>
            </a:r>
            <a:r>
              <a:rPr lang="en-US" sz="3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image gives an </a:t>
            </a:r>
            <a:r>
              <a:rPr lang="en-US" sz="3500" b="0" i="0" u="none" strike="noStrike" cap="none">
                <a:solidFill>
                  <a:srgbClr val="9015DB"/>
                </a:solidFill>
                <a:latin typeface="Arial"/>
                <a:ea typeface="Arial"/>
                <a:cs typeface="Arial"/>
                <a:sym typeface="Arial"/>
              </a:rPr>
              <a:t>(h', w', out_dims)</a:t>
            </a:r>
            <a:r>
              <a:rPr lang="en-US" sz="3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feature map.</a:t>
            </a:r>
            <a:endParaRPr/>
          </a:p>
        </p:txBody>
      </p:sp>
      <p:pic>
        <p:nvPicPr>
          <p:cNvPr id="280" name="Google Shape;280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625775" y="2810363"/>
            <a:ext cx="7671752" cy="6786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5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806" r="-806"/>
            </a:stretch>
          </a:blipFill>
          <a:ln>
            <a:noFill/>
          </a:ln>
        </p:spPr>
      </p:sp>
      <p:sp>
        <p:nvSpPr>
          <p:cNvPr id="286" name="Google Shape;286;p15"/>
          <p:cNvSpPr txBox="1"/>
          <p:nvPr/>
        </p:nvSpPr>
        <p:spPr>
          <a:xfrm>
            <a:off x="398975" y="722254"/>
            <a:ext cx="9532500" cy="8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99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Vertical Edge Detection</a:t>
            </a:r>
            <a:endParaRPr/>
          </a:p>
        </p:txBody>
      </p:sp>
      <p:pic>
        <p:nvPicPr>
          <p:cNvPr id="287" name="Google Shape;287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63650" y="2779625"/>
            <a:ext cx="15330099" cy="7507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806" r="-806"/>
            </a:stretch>
          </a:blipFill>
          <a:ln>
            <a:noFill/>
          </a:ln>
        </p:spPr>
      </p:sp>
      <p:sp>
        <p:nvSpPr>
          <p:cNvPr id="293" name="Google Shape;293;p16"/>
          <p:cNvSpPr/>
          <p:nvPr/>
        </p:nvSpPr>
        <p:spPr>
          <a:xfrm>
            <a:off x="1710344" y="1947180"/>
            <a:ext cx="13697324" cy="8153169"/>
          </a:xfrm>
          <a:custGeom>
            <a:avLst/>
            <a:gdLst/>
            <a:ahLst/>
            <a:cxnLst/>
            <a:rect l="l" t="t" r="r" b="b"/>
            <a:pathLst>
              <a:path w="13697324" h="8153169" extrusionOk="0">
                <a:moveTo>
                  <a:pt x="0" y="0"/>
                </a:moveTo>
                <a:lnTo>
                  <a:pt x="13697324" y="0"/>
                </a:lnTo>
                <a:lnTo>
                  <a:pt x="13697324" y="8153169"/>
                </a:lnTo>
                <a:lnTo>
                  <a:pt x="0" y="81531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94" name="Google Shape;294;p16"/>
          <p:cNvSpPr txBox="1"/>
          <p:nvPr/>
        </p:nvSpPr>
        <p:spPr>
          <a:xfrm>
            <a:off x="0" y="760579"/>
            <a:ext cx="7923300" cy="8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99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Edge Detection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7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806" r="-806"/>
            </a:stretch>
          </a:blipFill>
          <a:ln>
            <a:noFill/>
          </a:ln>
        </p:spPr>
      </p:sp>
      <p:sp>
        <p:nvSpPr>
          <p:cNvPr id="300" name="Google Shape;300;p17"/>
          <p:cNvSpPr/>
          <p:nvPr/>
        </p:nvSpPr>
        <p:spPr>
          <a:xfrm>
            <a:off x="2188893" y="4817715"/>
            <a:ext cx="14777129" cy="5469285"/>
          </a:xfrm>
          <a:custGeom>
            <a:avLst/>
            <a:gdLst/>
            <a:ahLst/>
            <a:cxnLst/>
            <a:rect l="l" t="t" r="r" b="b"/>
            <a:pathLst>
              <a:path w="14777129" h="5469285" extrusionOk="0">
                <a:moveTo>
                  <a:pt x="0" y="0"/>
                </a:moveTo>
                <a:lnTo>
                  <a:pt x="14777129" y="0"/>
                </a:lnTo>
                <a:lnTo>
                  <a:pt x="14777129" y="5469285"/>
                </a:lnTo>
                <a:lnTo>
                  <a:pt x="0" y="54692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t="-10954" b="-2481"/>
            </a:stretch>
          </a:blipFill>
          <a:ln>
            <a:noFill/>
          </a:ln>
        </p:spPr>
      </p:sp>
      <p:sp>
        <p:nvSpPr>
          <p:cNvPr id="301" name="Google Shape;301;p17"/>
          <p:cNvSpPr txBox="1"/>
          <p:nvPr/>
        </p:nvSpPr>
        <p:spPr>
          <a:xfrm>
            <a:off x="975360" y="735620"/>
            <a:ext cx="2928300" cy="8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99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Depth</a:t>
            </a:r>
            <a:endParaRPr/>
          </a:p>
        </p:txBody>
      </p:sp>
      <p:sp>
        <p:nvSpPr>
          <p:cNvPr id="302" name="Google Shape;302;p17"/>
          <p:cNvSpPr txBox="1"/>
          <p:nvPr/>
        </p:nvSpPr>
        <p:spPr>
          <a:xfrm>
            <a:off x="1028700" y="2205170"/>
            <a:ext cx="16230600" cy="1363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9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 CNNs, each layer consists of </a:t>
            </a:r>
            <a:r>
              <a:rPr lang="en-US" sz="3699" b="0" i="0" u="none" strike="noStrike" cap="none">
                <a:solidFill>
                  <a:srgbClr val="9015DB"/>
                </a:solidFill>
                <a:latin typeface="Arial"/>
                <a:ea typeface="Arial"/>
                <a:cs typeface="Arial"/>
                <a:sym typeface="Arial"/>
              </a:rPr>
              <a:t>multiple filters</a:t>
            </a:r>
            <a:r>
              <a:rPr lang="en-US" sz="369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(kernels), each producing a separate feature map. The number of filters in a layer determines its </a:t>
            </a:r>
            <a:r>
              <a:rPr lang="en-US" sz="3699" b="0" i="0" u="none" strike="noStrike" cap="none">
                <a:solidFill>
                  <a:srgbClr val="9015DB"/>
                </a:solidFill>
                <a:latin typeface="Arial"/>
                <a:ea typeface="Arial"/>
                <a:cs typeface="Arial"/>
                <a:sym typeface="Arial"/>
              </a:rPr>
              <a:t>depth</a:t>
            </a:r>
            <a:r>
              <a:rPr lang="en-US" sz="369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8"/>
          <p:cNvSpPr/>
          <p:nvPr/>
        </p:nvSpPr>
        <p:spPr>
          <a:xfrm>
            <a:off x="-53340" y="-114513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806" r="-806"/>
            </a:stretch>
          </a:blipFill>
          <a:ln>
            <a:noFill/>
          </a:ln>
        </p:spPr>
      </p:sp>
      <p:pic>
        <p:nvPicPr>
          <p:cNvPr id="308" name="Google Shape;308;p18"/>
          <p:cNvPicPr preferRelativeResize="0"/>
          <p:nvPr/>
        </p:nvPicPr>
        <p:blipFill rotWithShape="1">
          <a:blip r:embed="rId4">
            <a:alphaModFix/>
          </a:blip>
          <a:srcRect l="10766" r="2615" b="8684"/>
          <a:stretch/>
        </p:blipFill>
        <p:spPr>
          <a:xfrm>
            <a:off x="8464559" y="1743266"/>
            <a:ext cx="9823441" cy="7515034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18"/>
          <p:cNvSpPr txBox="1"/>
          <p:nvPr/>
        </p:nvSpPr>
        <p:spPr>
          <a:xfrm>
            <a:off x="1151929" y="741195"/>
            <a:ext cx="3305100" cy="8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99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Padding</a:t>
            </a:r>
            <a:endParaRPr/>
          </a:p>
        </p:txBody>
      </p:sp>
      <p:sp>
        <p:nvSpPr>
          <p:cNvPr id="310" name="Google Shape;310;p18"/>
          <p:cNvSpPr txBox="1"/>
          <p:nvPr/>
        </p:nvSpPr>
        <p:spPr>
          <a:xfrm>
            <a:off x="1028700" y="2117351"/>
            <a:ext cx="8919686" cy="2604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Padding is a technique used to maintain the</a:t>
            </a:r>
            <a:endParaRPr/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9015DB"/>
                </a:solidFill>
                <a:latin typeface="Arial"/>
                <a:ea typeface="Arial"/>
                <a:cs typeface="Arial"/>
                <a:sym typeface="Arial"/>
              </a:rPr>
              <a:t>spatial dimensions</a:t>
            </a:r>
            <a:r>
              <a:rPr lang="en-US" sz="3600" b="0" i="0" u="none" strike="noStrike" cap="none">
                <a:solidFill>
                  <a:srgbClr val="FF313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of the input image after</a:t>
            </a:r>
            <a:endParaRPr/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performing </a:t>
            </a:r>
            <a:r>
              <a:rPr lang="en-US" sz="3600" b="0" i="0" u="none" strike="noStrike" cap="none">
                <a:solidFill>
                  <a:srgbClr val="9015DB"/>
                </a:solidFill>
                <a:latin typeface="Arial"/>
                <a:ea typeface="Arial"/>
                <a:cs typeface="Arial"/>
                <a:sym typeface="Arial"/>
              </a:rPr>
              <a:t>convolution operations</a:t>
            </a:r>
            <a:r>
              <a:rPr lang="en-US" sz="3600" b="0" i="0" u="none" strike="noStrike" cap="none">
                <a:solidFill>
                  <a:srgbClr val="FF313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on a feature map.</a:t>
            </a:r>
            <a:endParaRPr/>
          </a:p>
        </p:txBody>
      </p:sp>
      <p:sp>
        <p:nvSpPr>
          <p:cNvPr id="311" name="Google Shape;311;p18"/>
          <p:cNvSpPr txBox="1"/>
          <p:nvPr/>
        </p:nvSpPr>
        <p:spPr>
          <a:xfrm>
            <a:off x="1028700" y="5251316"/>
            <a:ext cx="10630512" cy="1965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 plain English, a padding is “a </a:t>
            </a:r>
            <a:endParaRPr/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9015DB"/>
                </a:solidFill>
                <a:latin typeface="Arial"/>
                <a:ea typeface="Arial"/>
                <a:cs typeface="Arial"/>
                <a:sym typeface="Arial"/>
              </a:rPr>
              <a:t>piece of material</a:t>
            </a:r>
            <a:r>
              <a:rPr lang="en-US" sz="3600" b="0" i="0" u="none" strike="noStrike" cap="none">
                <a:solidFill>
                  <a:srgbClr val="FF313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used to </a:t>
            </a:r>
            <a:r>
              <a:rPr lang="en-US" sz="3600" b="0" i="0" u="none" strike="noStrike" cap="none">
                <a:solidFill>
                  <a:srgbClr val="9015DB"/>
                </a:solidFill>
                <a:latin typeface="Arial"/>
                <a:ea typeface="Arial"/>
                <a:cs typeface="Arial"/>
                <a:sym typeface="Arial"/>
              </a:rPr>
              <a:t>protect</a:t>
            </a:r>
            <a:endParaRPr/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something or give it shape.”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9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806" r="-806"/>
            </a:stretch>
          </a:blipFill>
          <a:ln>
            <a:noFill/>
          </a:ln>
        </p:spPr>
      </p:sp>
      <p:sp>
        <p:nvSpPr>
          <p:cNvPr id="317" name="Google Shape;317;p19"/>
          <p:cNvSpPr/>
          <p:nvPr/>
        </p:nvSpPr>
        <p:spPr>
          <a:xfrm>
            <a:off x="1719077" y="3360275"/>
            <a:ext cx="14849846" cy="5486375"/>
          </a:xfrm>
          <a:custGeom>
            <a:avLst/>
            <a:gdLst/>
            <a:ahLst/>
            <a:cxnLst/>
            <a:rect l="l" t="t" r="r" b="b"/>
            <a:pathLst>
              <a:path w="14849846" h="5486375" extrusionOk="0">
                <a:moveTo>
                  <a:pt x="0" y="0"/>
                </a:moveTo>
                <a:lnTo>
                  <a:pt x="14849846" y="0"/>
                </a:lnTo>
                <a:lnTo>
                  <a:pt x="14849846" y="5486375"/>
                </a:lnTo>
                <a:lnTo>
                  <a:pt x="0" y="54863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l="-2508" t="-79" b="-80"/>
            </a:stretch>
          </a:blipFill>
          <a:ln>
            <a:noFill/>
          </a:ln>
        </p:spPr>
      </p:sp>
      <p:sp>
        <p:nvSpPr>
          <p:cNvPr id="318" name="Google Shape;318;p19"/>
          <p:cNvSpPr txBox="1"/>
          <p:nvPr/>
        </p:nvSpPr>
        <p:spPr>
          <a:xfrm>
            <a:off x="1250201" y="755251"/>
            <a:ext cx="3069900" cy="8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99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Padding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20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806" r="-806"/>
            </a:stretch>
          </a:blipFill>
          <a:ln>
            <a:noFill/>
          </a:ln>
        </p:spPr>
      </p:sp>
      <p:sp>
        <p:nvSpPr>
          <p:cNvPr id="324" name="Google Shape;324;p20"/>
          <p:cNvSpPr txBox="1"/>
          <p:nvPr/>
        </p:nvSpPr>
        <p:spPr>
          <a:xfrm>
            <a:off x="1031177" y="695947"/>
            <a:ext cx="8279700" cy="8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99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Types of Same Padding</a:t>
            </a:r>
            <a:endParaRPr/>
          </a:p>
        </p:txBody>
      </p:sp>
      <p:grpSp>
        <p:nvGrpSpPr>
          <p:cNvPr id="325" name="Google Shape;325;p20"/>
          <p:cNvGrpSpPr/>
          <p:nvPr/>
        </p:nvGrpSpPr>
        <p:grpSpPr>
          <a:xfrm>
            <a:off x="1361365" y="3240087"/>
            <a:ext cx="4734687" cy="1737179"/>
            <a:chOff x="0" y="-180975"/>
            <a:chExt cx="6312916" cy="2316238"/>
          </a:xfrm>
        </p:grpSpPr>
        <p:sp>
          <p:nvSpPr>
            <p:cNvPr id="326" name="Google Shape;326;p20"/>
            <p:cNvSpPr txBox="1"/>
            <p:nvPr/>
          </p:nvSpPr>
          <p:spPr>
            <a:xfrm>
              <a:off x="0" y="-180975"/>
              <a:ext cx="6069076" cy="11047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992743" marR="0" lvl="1" indent="-496370" algn="l" rtl="0">
                <a:lnSpc>
                  <a:spcPct val="13999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598"/>
                <a:buFont typeface="Arial"/>
                <a:buChar char="•"/>
              </a:pPr>
              <a:r>
                <a:rPr lang="en-US" sz="4598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Zero Padding</a:t>
              </a:r>
              <a:endParaRPr/>
            </a:p>
          </p:txBody>
        </p:sp>
        <p:sp>
          <p:nvSpPr>
            <p:cNvPr id="327" name="Google Shape;327;p20"/>
            <p:cNvSpPr txBox="1"/>
            <p:nvPr/>
          </p:nvSpPr>
          <p:spPr>
            <a:xfrm>
              <a:off x="0" y="1030512"/>
              <a:ext cx="6312916" cy="11047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992743" marR="0" lvl="1" indent="-496370" algn="l" rtl="0">
                <a:lnSpc>
                  <a:spcPct val="13999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598"/>
                <a:buFont typeface="Arial"/>
                <a:buChar char="•"/>
              </a:pPr>
              <a:r>
                <a:rPr lang="en-US" sz="4598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Ones Padding</a:t>
              </a:r>
              <a:endParaRPr/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21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806" r="-806"/>
            </a:stretch>
          </a:blipFill>
          <a:ln>
            <a:noFill/>
          </a:ln>
        </p:spPr>
      </p:sp>
      <p:sp>
        <p:nvSpPr>
          <p:cNvPr id="333" name="Google Shape;333;p21"/>
          <p:cNvSpPr txBox="1"/>
          <p:nvPr/>
        </p:nvSpPr>
        <p:spPr>
          <a:xfrm>
            <a:off x="716110" y="792965"/>
            <a:ext cx="5706600" cy="8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99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Zero Padding</a:t>
            </a:r>
            <a:endParaRPr/>
          </a:p>
        </p:txBody>
      </p:sp>
      <p:pic>
        <p:nvPicPr>
          <p:cNvPr id="334" name="Google Shape;334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24175" y="2319550"/>
            <a:ext cx="14439650" cy="7219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806" r="-806"/>
            </a:stretch>
          </a:blipFill>
          <a:ln>
            <a:noFill/>
          </a:ln>
        </p:spPr>
      </p:sp>
      <p:sp>
        <p:nvSpPr>
          <p:cNvPr id="340" name="Google Shape;340;p22"/>
          <p:cNvSpPr txBox="1"/>
          <p:nvPr/>
        </p:nvSpPr>
        <p:spPr>
          <a:xfrm>
            <a:off x="1112674" y="777345"/>
            <a:ext cx="32481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399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Pooling</a:t>
            </a:r>
            <a:endParaRPr/>
          </a:p>
        </p:txBody>
      </p:sp>
      <p:grpSp>
        <p:nvGrpSpPr>
          <p:cNvPr id="341" name="Google Shape;341;p22"/>
          <p:cNvGrpSpPr/>
          <p:nvPr/>
        </p:nvGrpSpPr>
        <p:grpSpPr>
          <a:xfrm>
            <a:off x="3982105" y="7908357"/>
            <a:ext cx="12754859" cy="730149"/>
            <a:chOff x="0" y="-76619"/>
            <a:chExt cx="17006478" cy="973531"/>
          </a:xfrm>
        </p:grpSpPr>
        <p:grpSp>
          <p:nvGrpSpPr>
            <p:cNvPr id="342" name="Google Shape;342;p22"/>
            <p:cNvGrpSpPr/>
            <p:nvPr/>
          </p:nvGrpSpPr>
          <p:grpSpPr>
            <a:xfrm>
              <a:off x="0" y="-76619"/>
              <a:ext cx="17006478" cy="938271"/>
              <a:chOff x="0" y="-19050"/>
              <a:chExt cx="4228340" cy="233284"/>
            </a:xfrm>
          </p:grpSpPr>
          <p:sp>
            <p:nvSpPr>
              <p:cNvPr id="343" name="Google Shape;343;p22"/>
              <p:cNvSpPr/>
              <p:nvPr/>
            </p:nvSpPr>
            <p:spPr>
              <a:xfrm>
                <a:off x="0" y="0"/>
                <a:ext cx="4228340" cy="214234"/>
              </a:xfrm>
              <a:custGeom>
                <a:avLst/>
                <a:gdLst/>
                <a:ahLst/>
                <a:cxnLst/>
                <a:rect l="l" t="t" r="r" b="b"/>
                <a:pathLst>
                  <a:path w="4228340" h="214234" extrusionOk="0">
                    <a:moveTo>
                      <a:pt x="33384" y="0"/>
                    </a:moveTo>
                    <a:lnTo>
                      <a:pt x="4194956" y="0"/>
                    </a:lnTo>
                    <a:cubicBezTo>
                      <a:pt x="4213394" y="0"/>
                      <a:pt x="4228340" y="14946"/>
                      <a:pt x="4228340" y="33384"/>
                    </a:cubicBezTo>
                    <a:lnTo>
                      <a:pt x="4228340" y="180850"/>
                    </a:lnTo>
                    <a:cubicBezTo>
                      <a:pt x="4228340" y="199287"/>
                      <a:pt x="4213394" y="214234"/>
                      <a:pt x="4194956" y="214234"/>
                    </a:cubicBezTo>
                    <a:lnTo>
                      <a:pt x="33384" y="214234"/>
                    </a:lnTo>
                    <a:cubicBezTo>
                      <a:pt x="14946" y="214234"/>
                      <a:pt x="0" y="199287"/>
                      <a:pt x="0" y="180850"/>
                    </a:cubicBezTo>
                    <a:lnTo>
                      <a:pt x="0" y="33384"/>
                    </a:lnTo>
                    <a:cubicBezTo>
                      <a:pt x="0" y="14946"/>
                      <a:pt x="14946" y="0"/>
                      <a:pt x="33384" y="0"/>
                    </a:cubicBezTo>
                    <a:close/>
                  </a:path>
                </a:pathLst>
              </a:custGeom>
              <a:solidFill>
                <a:srgbClr val="9015D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" name="Google Shape;344;p22"/>
              <p:cNvSpPr txBox="1"/>
              <p:nvPr/>
            </p:nvSpPr>
            <p:spPr>
              <a:xfrm>
                <a:off x="0" y="-19050"/>
                <a:ext cx="4228340" cy="23328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0350" tIns="40350" rIns="40350" bIns="403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382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45" name="Google Shape;345;p22"/>
            <p:cNvSpPr txBox="1"/>
            <p:nvPr/>
          </p:nvSpPr>
          <p:spPr>
            <a:xfrm>
              <a:off x="1231100" y="-58892"/>
              <a:ext cx="14544278" cy="95580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4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933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Pooling</a:t>
              </a:r>
              <a:r>
                <a:rPr lang="en-US" sz="3933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3933" b="0" i="0" u="none" strike="noStrike" cap="none">
                  <a:solidFill>
                    <a:srgbClr val="EDEDED"/>
                  </a:solidFill>
                  <a:latin typeface="Arial"/>
                  <a:ea typeface="Arial"/>
                  <a:cs typeface="Arial"/>
                  <a:sym typeface="Arial"/>
                </a:rPr>
                <a:t>= Downsizing + Information Summary</a:t>
              </a:r>
              <a:endParaRPr/>
            </a:p>
          </p:txBody>
        </p:sp>
      </p:grpSp>
      <p:pic>
        <p:nvPicPr>
          <p:cNvPr id="346" name="Google Shape;346;p22"/>
          <p:cNvPicPr preferRelativeResize="0"/>
          <p:nvPr/>
        </p:nvPicPr>
        <p:blipFill rotWithShape="1">
          <a:blip r:embed="rId4">
            <a:alphaModFix/>
          </a:blip>
          <a:srcRect l="21487" t="12564" r="12055" b="11206"/>
          <a:stretch/>
        </p:blipFill>
        <p:spPr>
          <a:xfrm>
            <a:off x="9875034" y="2145061"/>
            <a:ext cx="8370348" cy="5402736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22"/>
          <p:cNvSpPr txBox="1"/>
          <p:nvPr/>
        </p:nvSpPr>
        <p:spPr>
          <a:xfrm>
            <a:off x="1028700" y="2219344"/>
            <a:ext cx="6918275" cy="824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9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Simplifying Complex Data:</a:t>
            </a:r>
            <a:endParaRPr/>
          </a:p>
        </p:txBody>
      </p:sp>
      <p:sp>
        <p:nvSpPr>
          <p:cNvPr id="348" name="Google Shape;348;p22"/>
          <p:cNvSpPr txBox="1"/>
          <p:nvPr/>
        </p:nvSpPr>
        <p:spPr>
          <a:xfrm>
            <a:off x="1313666" y="3300749"/>
            <a:ext cx="8607623" cy="11908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9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Pooling is like summarizing information, </a:t>
            </a:r>
            <a:endParaRPr/>
          </a:p>
          <a:p>
            <a:pPr marL="0" marR="0" lvl="0" indent="0" algn="l" rtl="0">
              <a:lnSpc>
                <a:spcPct val="11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9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keeping what's important.</a:t>
            </a:r>
            <a:endParaRPr/>
          </a:p>
        </p:txBody>
      </p:sp>
      <p:sp>
        <p:nvSpPr>
          <p:cNvPr id="349" name="Google Shape;349;p22"/>
          <p:cNvSpPr txBox="1"/>
          <p:nvPr/>
        </p:nvSpPr>
        <p:spPr>
          <a:xfrm>
            <a:off x="582992" y="4674979"/>
            <a:ext cx="7555417" cy="824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9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Dimensionality Reduction:</a:t>
            </a:r>
            <a:endParaRPr/>
          </a:p>
        </p:txBody>
      </p:sp>
      <p:sp>
        <p:nvSpPr>
          <p:cNvPr id="350" name="Google Shape;350;p22"/>
          <p:cNvSpPr txBox="1"/>
          <p:nvPr/>
        </p:nvSpPr>
        <p:spPr>
          <a:xfrm>
            <a:off x="1313666" y="5990146"/>
            <a:ext cx="8187035" cy="1350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6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9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It helps reduce the dimensionality </a:t>
            </a:r>
            <a:endParaRPr/>
          </a:p>
          <a:p>
            <a:pPr marL="0" marR="0" lvl="0" indent="0" algn="l" rtl="0">
              <a:lnSpc>
                <a:spcPct val="126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9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while retaining essential information.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23"/>
          <p:cNvSpPr/>
          <p:nvPr/>
        </p:nvSpPr>
        <p:spPr>
          <a:xfrm>
            <a:off x="0" y="2679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806" r="-806"/>
            </a:stretch>
          </a:blipFill>
          <a:ln>
            <a:noFill/>
          </a:ln>
        </p:spPr>
      </p:sp>
      <p:sp>
        <p:nvSpPr>
          <p:cNvPr id="356" name="Google Shape;356;p23"/>
          <p:cNvSpPr txBox="1"/>
          <p:nvPr/>
        </p:nvSpPr>
        <p:spPr>
          <a:xfrm>
            <a:off x="712325" y="702438"/>
            <a:ext cx="11982900" cy="8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99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Analogies to Understand Pooling</a:t>
            </a:r>
            <a:endParaRPr/>
          </a:p>
        </p:txBody>
      </p:sp>
      <p:grpSp>
        <p:nvGrpSpPr>
          <p:cNvPr id="357" name="Google Shape;357;p23"/>
          <p:cNvGrpSpPr/>
          <p:nvPr/>
        </p:nvGrpSpPr>
        <p:grpSpPr>
          <a:xfrm>
            <a:off x="888361" y="2236899"/>
            <a:ext cx="10152565" cy="1093255"/>
            <a:chOff x="0" y="-161925"/>
            <a:chExt cx="13536754" cy="1457673"/>
          </a:xfrm>
        </p:grpSpPr>
        <p:sp>
          <p:nvSpPr>
            <p:cNvPr id="358" name="Google Shape;358;p23"/>
            <p:cNvSpPr/>
            <p:nvPr/>
          </p:nvSpPr>
          <p:spPr>
            <a:xfrm flipH="1">
              <a:off x="9612297" y="306458"/>
              <a:ext cx="3924457" cy="989290"/>
            </a:xfrm>
            <a:custGeom>
              <a:avLst/>
              <a:gdLst/>
              <a:ahLst/>
              <a:cxnLst/>
              <a:rect l="l" t="t" r="r" b="b"/>
              <a:pathLst>
                <a:path w="3924457" h="989290" extrusionOk="0">
                  <a:moveTo>
                    <a:pt x="3924458" y="0"/>
                  </a:moveTo>
                  <a:lnTo>
                    <a:pt x="0" y="0"/>
                  </a:lnTo>
                  <a:lnTo>
                    <a:pt x="0" y="989290"/>
                  </a:lnTo>
                  <a:lnTo>
                    <a:pt x="3924458" y="989290"/>
                  </a:lnTo>
                  <a:lnTo>
                    <a:pt x="3924458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359" name="Google Shape;359;p23"/>
            <p:cNvSpPr txBox="1"/>
            <p:nvPr/>
          </p:nvSpPr>
          <p:spPr>
            <a:xfrm>
              <a:off x="0" y="-161925"/>
              <a:ext cx="9569698" cy="9550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4001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956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Image Compression Analogy</a:t>
              </a:r>
              <a:endParaRPr/>
            </a:p>
          </p:txBody>
        </p:sp>
      </p:grpSp>
      <p:sp>
        <p:nvSpPr>
          <p:cNvPr id="360" name="Google Shape;360;p23"/>
          <p:cNvSpPr txBox="1"/>
          <p:nvPr/>
        </p:nvSpPr>
        <p:spPr>
          <a:xfrm>
            <a:off x="9144000" y="3654004"/>
            <a:ext cx="8124788" cy="1901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9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1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Pooling is like </a:t>
            </a:r>
            <a:r>
              <a:rPr lang="en-US" sz="3111" b="0" i="0" u="none" strike="noStrike" cap="none">
                <a:solidFill>
                  <a:srgbClr val="9015DB"/>
                </a:solidFill>
                <a:latin typeface="Arial"/>
                <a:ea typeface="Arial"/>
                <a:cs typeface="Arial"/>
                <a:sym typeface="Arial"/>
              </a:rPr>
              <a:t>compressing</a:t>
            </a:r>
            <a:r>
              <a:rPr lang="en-US" sz="311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an image file. You lose some details, but the essential features are still there.</a:t>
            </a:r>
            <a:endParaRPr/>
          </a:p>
          <a:p>
            <a:pPr marL="0" marR="0" lvl="0" indent="0" algn="l" rtl="0">
              <a:lnSpc>
                <a:spcPct val="115975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111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61" name="Google Shape;361;p23"/>
          <p:cNvGrpSpPr/>
          <p:nvPr/>
        </p:nvGrpSpPr>
        <p:grpSpPr>
          <a:xfrm>
            <a:off x="1028700" y="5617795"/>
            <a:ext cx="8819937" cy="856268"/>
            <a:chOff x="0" y="-152400"/>
            <a:chExt cx="11759916" cy="1141690"/>
          </a:xfrm>
        </p:grpSpPr>
        <p:sp>
          <p:nvSpPr>
            <p:cNvPr id="362" name="Google Shape;362;p23"/>
            <p:cNvSpPr/>
            <p:nvPr/>
          </p:nvSpPr>
          <p:spPr>
            <a:xfrm flipH="1">
              <a:off x="7835459" y="0"/>
              <a:ext cx="3924457" cy="989290"/>
            </a:xfrm>
            <a:custGeom>
              <a:avLst/>
              <a:gdLst/>
              <a:ahLst/>
              <a:cxnLst/>
              <a:rect l="l" t="t" r="r" b="b"/>
              <a:pathLst>
                <a:path w="3924457" h="989290" extrusionOk="0">
                  <a:moveTo>
                    <a:pt x="3924457" y="0"/>
                  </a:moveTo>
                  <a:lnTo>
                    <a:pt x="0" y="0"/>
                  </a:lnTo>
                  <a:lnTo>
                    <a:pt x="0" y="989290"/>
                  </a:lnTo>
                  <a:lnTo>
                    <a:pt x="3924457" y="989290"/>
                  </a:lnTo>
                  <a:lnTo>
                    <a:pt x="3924457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363" name="Google Shape;363;p23"/>
            <p:cNvSpPr txBox="1"/>
            <p:nvPr/>
          </p:nvSpPr>
          <p:spPr>
            <a:xfrm>
              <a:off x="0" y="-152400"/>
              <a:ext cx="7682082" cy="9351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4000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88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Teacher Analogy</a:t>
              </a:r>
              <a:endParaRPr/>
            </a:p>
          </p:txBody>
        </p:sp>
      </p:grpSp>
      <p:sp>
        <p:nvSpPr>
          <p:cNvPr id="364" name="Google Shape;364;p23"/>
          <p:cNvSpPr txBox="1"/>
          <p:nvPr/>
        </p:nvSpPr>
        <p:spPr>
          <a:xfrm>
            <a:off x="8387786" y="6807438"/>
            <a:ext cx="9900214" cy="2253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650103" marR="0" lvl="1" indent="-325051" algn="l" rtl="0">
              <a:lnSpc>
                <a:spcPct val="11597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11"/>
              <a:buFont typeface="Arial"/>
              <a:buChar char="•"/>
            </a:pPr>
            <a:r>
              <a:rPr lang="en-US" sz="301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Imagine a teacher </a:t>
            </a:r>
            <a:r>
              <a:rPr lang="en-US" sz="3011" b="0" i="0" u="none" strike="noStrike" cap="none">
                <a:solidFill>
                  <a:srgbClr val="9015DB"/>
                </a:solidFill>
                <a:latin typeface="Arial"/>
                <a:ea typeface="Arial"/>
                <a:cs typeface="Arial"/>
                <a:sym typeface="Arial"/>
              </a:rPr>
              <a:t>summarizing a chapter.</a:t>
            </a:r>
            <a:r>
              <a:rPr lang="en-US" sz="301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They highlight the key points (max pooling) or give an overall summary (average pooling), making it easier for students to remember the main ideas.</a:t>
            </a:r>
            <a:endParaRPr/>
          </a:p>
          <a:p>
            <a:pPr marL="0" marR="0" lvl="0" indent="0" algn="l" rtl="0">
              <a:lnSpc>
                <a:spcPct val="11597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011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456</Words>
  <Application>Microsoft Office PowerPoint</Application>
  <PresentationFormat>Custom</PresentationFormat>
  <Paragraphs>59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KHUSHBOO</dc:creator>
  <cp:lastModifiedBy>Khushboo Khushboo</cp:lastModifiedBy>
  <cp:revision>2</cp:revision>
  <dcterms:created xsi:type="dcterms:W3CDTF">2006-08-16T00:00:00Z</dcterms:created>
  <dcterms:modified xsi:type="dcterms:W3CDTF">2026-07-17T21:34:12Z</dcterms:modified>
</cp:coreProperties>
</file>